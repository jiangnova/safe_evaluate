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15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4114800"/>
            <a:ext cx="2743200" cy="2743200"/>
          </a:xfrm>
          <a:prstGeom prst="ellipse">
            <a:avLst/>
          </a:prstGeom>
          <a:solidFill>
            <a:srgbClr val="15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消防安全智能评估系统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93C5FD"/>
                </a:solidFill>
                <a:latin typeface="Microsoft YaHei"/>
              </a:defRPr>
            </a:pPr>
            <a:r>
              <a:t>SafeEvaluate  |  AI-Powered Fire Safety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246120"/>
            <a:ext cx="22860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93C5FD"/>
                </a:solidFill>
                <a:latin typeface="Microsoft YaHei"/>
              </a:defRPr>
            </a:pPr>
            <a:r>
              <a:t>智能评估 · 精准研判  |  保障消防安全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t>基于千问视觉大模型 + 消防法规知识库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公安内部系统 · 仅限授权人员访问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2B54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系统定位 · 核心能力 · 技术栈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B54"/>
                </a:solidFill>
                <a:latin typeface="Microsoft YaHei"/>
              </a:defRPr>
            </a:pPr>
            <a:r>
              <a:t>🎯  系统定位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29260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面向派出所防火部门的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消防安全智能评估平台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上传现场照片/图纸，AI 自动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依据消防法规生成评估报告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智能发现隐患 · 辅助执法决策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38328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737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B54"/>
                </a:solidFill>
                <a:latin typeface="Microsoft YaHei"/>
              </a:defRPr>
            </a:pPr>
            <a:r>
              <a:t>🧠  核心能力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29260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✅ AI 图像识别 — 多图关联分析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✅ 法规对标 — 消防标准自动匹配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✅ 智能报告 — 一键生成评估结果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✅ 规则管理 — 支持自定义检查规则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✅ 统计分析 — 合规趋势大屏数据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✅ 历史追溯 — 所有报告永久存档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38328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373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B54"/>
                </a:solidFill>
                <a:latin typeface="Microsoft YaHei"/>
              </a:defRPr>
            </a:pPr>
            <a:r>
              <a:t>⚙️  技术栈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94560"/>
            <a:ext cx="29260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前端：React 18 + Vite + CSS Modules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后端：Python FastAPI + Uvicorn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AI：阿里云千问视觉大模型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认证：JWT（HS256 令牌）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存储：JSON 文件持久化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部署：Docker + Nginx 反向代理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B54"/>
                </a:solidFill>
                <a:latin typeface="Microsoft YaHei"/>
              </a:defRPr>
            </a:pPr>
            <a:r>
              <a:t>📋  评估工作流程</a:t>
            </a:r>
          </a:p>
        </p:txBody>
      </p:sp>
      <p:sp>
        <p:nvSpPr>
          <p:cNvPr id="16" name="Oval 15"/>
          <p:cNvSpPr/>
          <p:nvPr/>
        </p:nvSpPr>
        <p:spPr>
          <a:xfrm>
            <a:off x="1554480" y="4709160"/>
            <a:ext cx="594360" cy="5943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75488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7280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B54"/>
                </a:solidFill>
                <a:latin typeface="Microsoft YaHei"/>
              </a:defRPr>
            </a:pPr>
            <a:r>
              <a:t>上传资料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1500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图片/PDF/图纸</a:t>
            </a:r>
          </a:p>
        </p:txBody>
      </p:sp>
      <p:sp>
        <p:nvSpPr>
          <p:cNvPr id="20" name="Oval 19"/>
          <p:cNvSpPr/>
          <p:nvPr/>
        </p:nvSpPr>
        <p:spPr>
          <a:xfrm>
            <a:off x="4251960" y="4709160"/>
            <a:ext cx="594360" cy="5943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75488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7280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39496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B54"/>
                </a:solidFill>
                <a:latin typeface="Microsoft YaHei"/>
              </a:defRPr>
            </a:pPr>
            <a:r>
              <a:t>选择规则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571500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勾选检查标准</a:t>
            </a:r>
          </a:p>
        </p:txBody>
      </p:sp>
      <p:sp>
        <p:nvSpPr>
          <p:cNvPr id="24" name="Oval 23"/>
          <p:cNvSpPr/>
          <p:nvPr/>
        </p:nvSpPr>
        <p:spPr>
          <a:xfrm>
            <a:off x="6949440" y="4709160"/>
            <a:ext cx="594360" cy="5943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5488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B7280"/>
                </a:solidFill>
                <a:latin typeface="Microsoft YaHei"/>
              </a:defRPr>
            </a:pPr>
            <a: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39496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B54"/>
                </a:solidFill>
                <a:latin typeface="Microsoft YaHei"/>
              </a:defRPr>
            </a:pPr>
            <a:r>
              <a:t>AI 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71500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千问视觉大模型</a:t>
            </a:r>
          </a:p>
        </p:txBody>
      </p:sp>
      <p:sp>
        <p:nvSpPr>
          <p:cNvPr id="28" name="Oval 27"/>
          <p:cNvSpPr/>
          <p:nvPr/>
        </p:nvSpPr>
        <p:spPr>
          <a:xfrm>
            <a:off x="9646920" y="4709160"/>
            <a:ext cx="594360" cy="5943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539496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B54"/>
                </a:solidFill>
                <a:latin typeface="Microsoft YaHei"/>
              </a:defRPr>
            </a:pPr>
            <a:r>
              <a:t>生成报告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571500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合规/隐患明细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2B54"/>
                </a:solidFill>
                <a:latin typeface="Microsoft YaHei"/>
              </a:defRPr>
            </a:pPr>
            <a:r>
              <a:t>🔐  登录与权限管理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JWT 认证 · 身份验证 · 安全防护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4754880"/>
          </a:xfrm>
          <a:prstGeom prst="roundRect">
            <a:avLst/>
          </a:prstGeom>
          <a:solidFill>
            <a:srgbClr val="0F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🔑  登录界面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1148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93C5FD"/>
                </a:solidFill>
                <a:latin typeface="Microsoft YaHei"/>
              </a:defRPr>
            </a:pPr>
            <a:r>
              <a:t>分屏布局设计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左侧品牌面板：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  · 消防标识 + 系统名称 + 口号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  · 渐变深蓝底色 + 装饰圆形图案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右侧登录卡片：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  · 用户名 + 密码输入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  · 前端表单验证（非空检查）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t>  · 登录按钮 + 错误提示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· 底部标注 "公安内部系统"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303520" cy="1005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5080" y="1901952"/>
            <a:ext cx="274320" cy="2743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6459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B54"/>
                </a:solidFill>
                <a:latin typeface="Microsoft YaHei"/>
              </a:defRPr>
            </a:pPr>
            <a:r>
              <a:t>JWT 令牌认证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0116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HS256 签名算法，24 小时有效期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743200"/>
            <a:ext cx="5303520" cy="1005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5080" y="3090672"/>
            <a:ext cx="274320" cy="2743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83464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B54"/>
                </a:solidFill>
                <a:latin typeface="Microsoft YaHei"/>
              </a:defRPr>
            </a:pPr>
            <a:r>
              <a:t>请求拦截器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2004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axios 自动附加 Authorization 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931920"/>
            <a:ext cx="5303520" cy="1005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5080" y="4279392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40233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B54"/>
                </a:solidFill>
                <a:latin typeface="Microsoft YaHei"/>
              </a:defRPr>
            </a:pPr>
            <a:r>
              <a:t>路由守卫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3891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ProtectedRoute 组件包裹受保护页面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5120640"/>
            <a:ext cx="5303520" cy="1005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5080" y="5468112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52120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B54"/>
                </a:solidFill>
                <a:latin typeface="Microsoft YaHei"/>
              </a:defRPr>
            </a:pPr>
            <a:r>
              <a:t>401 自动跳转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557784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令牌过期自动重定向到登录页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2B54"/>
                </a:solidFill>
                <a:latin typeface="Microsoft YaHei"/>
              </a:defRPr>
            </a:pPr>
            <a:r>
              <a:t>📤  新建评估 — 文件上传与规则选择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支持多图上传 · 拖拽操作 · 按类别勾选规则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B54"/>
                </a:solidFill>
                <a:latin typeface="Microsoft YaHei"/>
              </a:defRPr>
            </a:pPr>
            <a:r>
              <a:t>📷  文件上传区域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029200" cy="2377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拖拽文件到此处  或  点击选择文件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支持 PNG / JPEG / GIF / BMP / WebP /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单文件最大 50MB，支持多张图片同时上传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50292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F2B54"/>
                </a:solidFill>
                <a:latin typeface="Microsoft YaHei"/>
              </a:defRPr>
            </a:pPr>
            <a:r>
              <a:t>上传特性：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· 基于 react-dropzone 实现拖拽上传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· 已选文件列表：名称 + 大小 + 删除按钮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· 前端校验文件类型和大小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· 多张图片合并发送，AI 交叉分析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· 提交时显示 Loading 动画 (30-90秒)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63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B54"/>
                </a:solidFill>
                <a:latin typeface="Microsoft YaHei"/>
              </a:defRPr>
            </a:pPr>
            <a:r>
              <a:t>📋  规则选择器（侧边栏）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5029200" cy="4297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4389120" cy="3931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F2B54"/>
                </a:solidFill>
                <a:latin typeface="Microsoft YaHei"/>
              </a:defRPr>
            </a:pPr>
            <a:r>
              <a:t>按类别分组的规则列表：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🏃  消防通道与疏散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  安全出口宽度 / 疏散通道畅通 / 防火门状态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🧯  消防设施与器材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  灭火器配置 / 自动喷淋系统 / 消火栓状态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⚡  电气与火源管理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  电线敷设 / 漏电保护 / 明火管理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📋  消防安全管理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  巡查记录 / 应急预案 / 值班制度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🏗️  建筑与场所属性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  防火分区 / 耐火等级 / 建筑用途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56DB"/>
                </a:solidFill>
                <a:latin typeface="Microsoft YaHei"/>
              </a:defRPr>
            </a:pPr>
            <a:r>
              <a:t>💡 不勾选任何规则 = AI 依据全部法规文档评估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2B54"/>
                </a:solidFill>
                <a:latin typeface="Microsoft YaHei"/>
              </a:defRPr>
            </a:pPr>
            <a:r>
              <a:t>📊  评估报告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AI 分析结果展示 · 合规/隐患明细 · 法规依据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691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6916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E293B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B54"/>
                </a:solidFill>
                <a:latin typeface="Microsoft YaHei"/>
              </a:defRPr>
            </a:pPr>
            <a:r>
              <a:t>过关项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合规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417320"/>
            <a:ext cx="1691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417320"/>
            <a:ext cx="1691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600200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E293B"/>
                </a:solidFill>
                <a:latin typeface="Microsoft YaHei"/>
              </a:defRPr>
            </a:pPr>
            <a:r>
              <a:t>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965960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B54"/>
                </a:solidFill>
                <a:latin typeface="Microsoft YaHei"/>
              </a:defRPr>
            </a:pPr>
            <a:r>
              <a:t>不过关项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240280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存在隐患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417320"/>
            <a:ext cx="1691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417320"/>
            <a:ext cx="1691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600200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E293B"/>
                </a:solidFill>
                <a:latin typeface="Microsoft YaHei"/>
              </a:defRPr>
            </a:pPr>
            <a: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965960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B54"/>
                </a:solidFill>
                <a:latin typeface="Microsoft YaHei"/>
              </a:defRPr>
            </a:pPr>
            <a:r>
              <a:t>整改建议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240280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限期整改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175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B54"/>
                </a:solidFill>
                <a:latin typeface="Microsoft YaHei"/>
              </a:defRPr>
            </a:pPr>
            <a:r>
              <a:t>📋  报告结构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29000"/>
            <a:ext cx="502920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1. 报告标题 + 评估日期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2. 总体评估 (Overall Assessment)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AI 生成的场所整体消防安全状况概述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3. 统计卡片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合规项 / 不合规项 / 整改建议 三大统计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4. 不过关项详情 🔴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隐患标题 + 详细说明 + 法规依据引用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严重等级标签：danger（不过关）/ warning（建议）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5. 过关项详情 🟢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   合规项标题 + 说明 + 对应法规条款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0175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B54"/>
                </a:solidFill>
                <a:latin typeface="Microsoft YaHei"/>
              </a:defRPr>
            </a:pPr>
            <a:r>
              <a:t>🔍  评估项卡片示例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5029200" cy="2560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37960" y="3611880"/>
            <a:ext cx="914400" cy="3200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61188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不过关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3611880"/>
            <a:ext cx="1463040" cy="320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3611880"/>
            <a:ext cx="1463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56DB"/>
                </a:solidFill>
                <a:latin typeface="Microsoft YaHei"/>
              </a:defRPr>
            </a:pPr>
            <a:r>
              <a:t>消防通道与疏散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06908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⚠️ 疏散通道宽度不达标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434840"/>
            <a:ext cx="4389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二层东侧疏散通道实测宽度约1.1m，规范要求疏散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通道净宽度不应小于1.4m，存在人员疏散拥堵风险。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法规依据：GB 50016 建筑设计防火规范 第5.5.18条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61264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🖨️  打印报告    |    📄  导出 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2B54"/>
                </a:solidFill>
                <a:latin typeface="Microsoft YaHei"/>
              </a:defRPr>
            </a:pPr>
            <a:r>
              <a:t>📝  规则管理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CRUD 操作 · 分类筛选 · 内置规则与自定义规则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B54"/>
                </a:solidFill>
                <a:latin typeface="Microsoft YaHei"/>
              </a:defRPr>
            </a:pPr>
            <a:r>
              <a:t>📋  规则列表（表格视图）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9436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5943600" cy="411480"/>
          </a:xfrm>
          <a:prstGeom prst="rect">
            <a:avLst/>
          </a:prstGeom>
          <a:solidFill>
            <a:srgbClr val="0F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规则名称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965960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类别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65960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来源文档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965960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59152"/>
            <a:ext cx="59436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41401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中华人民共和国消防法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41401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消防安全管理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414016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消防法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414016"/>
            <a:ext cx="777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6A34A"/>
                </a:solidFill>
                <a:latin typeface="Microsoft YaHei"/>
              </a:defRPr>
            </a:pPr>
            <a:r>
              <a:t>内置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43200"/>
            <a:ext cx="5943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798064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GB 50016 建筑设计防火规范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798064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建筑与场所属性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798064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GB 50016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798064"/>
            <a:ext cx="777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6A34A"/>
                </a:solidFill>
                <a:latin typeface="Microsoft YaHei"/>
              </a:defRPr>
            </a:pPr>
            <a:r>
              <a:t>内置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127248"/>
            <a:ext cx="59436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18211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GB 50116 火灾自动报警规范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18211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消防设施与器材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18211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GB 50116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3182112"/>
            <a:ext cx="777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6A34A"/>
                </a:solidFill>
                <a:latin typeface="Microsoft YaHei"/>
              </a:defRPr>
            </a:pPr>
            <a:r>
              <a:t>内置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511296"/>
            <a:ext cx="5943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5661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GB 35181-2025 重大火灾隐患判定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35661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消防安全管理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5661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GB 35181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566160"/>
            <a:ext cx="777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6A34A"/>
                </a:solidFill>
                <a:latin typeface="Microsoft YaHei"/>
              </a:defRPr>
            </a:pPr>
            <a:r>
              <a:t>内置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895344"/>
            <a:ext cx="59436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395020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本场所灭火器检查标准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3950208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消防设施与器材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3950208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自定义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3950208"/>
            <a:ext cx="777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59E0B"/>
                </a:solidFill>
                <a:latin typeface="Microsoft YaHei"/>
              </a:defRPr>
            </a:pPr>
            <a:r>
              <a:t>自定义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1463040"/>
            <a:ext cx="54864" cy="10515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78040" y="1508760"/>
            <a:ext cx="4663440" cy="1005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1572768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🏷️  分类筛选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1874520"/>
            <a:ext cx="4297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6大类别下拉筛选：消防通道与疏散、消防设施与器材、电气与火源管理、消防安全管理、建筑与场所属性、其他。切换类别即时过滤规则列表。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2697480"/>
            <a:ext cx="54864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178040" y="2743200"/>
            <a:ext cx="4663440" cy="1005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60920" y="2807208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➕  新增规则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3108960"/>
            <a:ext cx="4297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弹窗表单：规则名称（必填）、类别选择、描述文本、来源文档、条款编号。保存后即时刷新列表。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95160" y="393192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178040" y="3977640"/>
            <a:ext cx="4663440" cy="1005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60920" y="4041648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✏️  编辑规则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4343400"/>
            <a:ext cx="4297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点击编辑按钮打开预填充表单，修改后保存。内置规则和自定义规则均可编辑。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95160" y="5166360"/>
            <a:ext cx="54864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178040" y="5212080"/>
            <a:ext cx="4663440" cy="1005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60920" y="5276088"/>
            <a:ext cx="4297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🗑️  删除规则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5577840"/>
            <a:ext cx="4297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仅自定义规则可删除，内置规则受保护（返回 403）。删除前弹出确认对话框。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84632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📦 系统内置 8 条核心规则（消防法、GB标准、地方界定标准）+ 支持用户自定义添加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2B54"/>
                </a:solidFill>
                <a:latin typeface="Microsoft YaHei"/>
              </a:defRPr>
            </a:pPr>
            <a:r>
              <a:t>📜  历史记录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评估报告归档 · 分页浏览 · 风险等级标识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B54"/>
                </a:solidFill>
                <a:latin typeface="Microsoft YaHei"/>
              </a:defRPr>
            </a:pPr>
            <a:r>
              <a:t>📋  历史记录列表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9436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5943600" cy="411480"/>
          </a:xfrm>
          <a:prstGeom prst="rect">
            <a:avLst/>
          </a:prstGeom>
          <a:solidFill>
            <a:srgbClr val="0F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评估名称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965960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评估日期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965960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风险等级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965960"/>
            <a:ext cx="1371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59152"/>
            <a:ext cx="59436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41401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万达广场消防评估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414016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2026-07-20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2432304"/>
            <a:ext cx="914400" cy="2286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39" y="2432304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低风险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41401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56DB"/>
                </a:solidFill>
                <a:latin typeface="Microsoft YaHei"/>
              </a:defRPr>
            </a:pPr>
            <a:r>
              <a:t>查看报告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5943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798064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人民医院消防复查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2798064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2026-07-18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2816352"/>
            <a:ext cx="914400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816352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中风险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798064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56DB"/>
                </a:solidFill>
                <a:latin typeface="Microsoft YaHei"/>
              </a:defRPr>
            </a:pPr>
            <a:r>
              <a:t>查看报告 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127248"/>
            <a:ext cx="59436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18211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阳光小学消防检查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18211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2026-07-15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7639" y="3200400"/>
            <a:ext cx="914400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39" y="32004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高风险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318211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56DB"/>
                </a:solidFill>
                <a:latin typeface="Microsoft YaHei"/>
              </a:defRPr>
            </a:pPr>
            <a:r>
              <a:t>查看报告 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511296"/>
            <a:ext cx="5943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35661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写字楼A座消防评估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35661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2026-07-12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77639" y="3584448"/>
            <a:ext cx="914400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77639" y="3584448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中风险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356616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56DB"/>
                </a:solidFill>
                <a:latin typeface="Microsoft YaHei"/>
              </a:defRPr>
            </a:pPr>
            <a:r>
              <a:t>查看报告 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895344"/>
            <a:ext cx="59436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95020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居民小区消防检查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950208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2026-07-08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77639" y="3968496"/>
            <a:ext cx="914400" cy="2286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77639" y="3968496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低风险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3950208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56DB"/>
                </a:solidFill>
                <a:latin typeface="Microsoft YaHei"/>
              </a:defRPr>
            </a:pPr>
            <a:r>
              <a:t>查看报告 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51663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‹  1   2   3  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14630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B54"/>
                </a:solidFill>
                <a:latin typeface="Microsoft YaHei"/>
              </a:defRPr>
            </a:pPr>
            <a:r>
              <a:t>✨  功能特性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95160" y="1920240"/>
            <a:ext cx="45720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60" y="201168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📄 分页展示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2267712"/>
            <a:ext cx="4114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每页显示 10 条记录，支持页码切换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95160" y="2834640"/>
            <a:ext cx="45720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3760" y="292608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🏷️ 风险分级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3182112"/>
            <a:ext cx="4114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0项不合规 = 低风险 🟢</a:t>
            </a:r>
            <a:br/>
            <a:r>
              <a:t>1-3项 = 中风险 🟡</a:t>
            </a:r>
            <a:br/>
            <a:r>
              <a:t>4+项 = 高风险 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95160" y="3749040"/>
            <a:ext cx="45720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23760" y="384048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🔗 快速跳转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4096512"/>
            <a:ext cx="4114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点击行或"查看报告"链接直接跳转到详细报告页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95160" y="4663440"/>
            <a:ext cx="45720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23760" y="475488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🔄 自动刷新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5010912"/>
            <a:ext cx="4114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路由变化时自动重新加载数据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995160" y="5577840"/>
            <a:ext cx="4572000" cy="731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23760" y="566928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2B54"/>
                </a:solidFill>
                <a:latin typeface="Microsoft YaHei"/>
              </a:defRPr>
            </a:pPr>
            <a:r>
              <a:t>📊 总计数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5925312"/>
            <a:ext cx="4114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页头显示历史记录总条数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2B54"/>
                </a:solidFill>
                <a:latin typeface="Microsoft YaHei"/>
              </a:defRPr>
            </a:pPr>
            <a:r>
              <a:t>📈  统计分析 — 数据总览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概览卡片 · 风险分布 · 分类分布 · 高频问题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606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26060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F2B54"/>
                </a:solidFill>
                <a:latin typeface="Microsoft YaHei"/>
              </a:defRPr>
            </a:pPr>
            <a:r>
              <a:t>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评估总次数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417320"/>
            <a:ext cx="2606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417320"/>
            <a:ext cx="26060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55448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192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F2B54"/>
                </a:solidFill>
                <a:latin typeface="Microsoft YaHei"/>
              </a:defRPr>
            </a:pPr>
            <a:r>
              <a:t>72.5%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整体合规率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2606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26060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55448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92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F2B54"/>
                </a:solidFill>
                <a:latin typeface="Microsoft YaHei"/>
              </a:defRPr>
            </a:pPr>
            <a:r>
              <a:t>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不合规项总数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417320"/>
            <a:ext cx="26060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417320"/>
            <a:ext cx="2606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5448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E293B"/>
                </a:solidFill>
                <a:latin typeface="Microsoft YaHei"/>
              </a:defRPr>
            </a:pPr>
            <a: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192024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F2B54"/>
                </a:solidFill>
                <a:latin typeface="Microsoft YaHei"/>
              </a:defRPr>
            </a:pPr>
            <a:r>
              <a:t>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28600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整改建议总数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8346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B54"/>
                </a:solidFill>
                <a:latin typeface="Microsoft YaHei"/>
              </a:defRPr>
            </a:pPr>
            <a:r>
              <a:t>🎯  风险等级分布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2461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F2B54"/>
                </a:solidFill>
                <a:latin typeface="Microsoft YaHei"/>
              </a:defRPr>
            </a:pPr>
            <a:r>
              <a:t>🟢 低风险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3319272"/>
            <a:ext cx="5943600" cy="201168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377440" y="3319272"/>
            <a:ext cx="365760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32461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2B54"/>
                </a:solidFill>
                <a:latin typeface="Microsoft YaHei"/>
              </a:defRPr>
            </a:pPr>
            <a:r>
              <a:t>62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461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62%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84048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F2B54"/>
                </a:solidFill>
                <a:latin typeface="Microsoft YaHei"/>
              </a:defRPr>
            </a:pPr>
            <a:r>
              <a:t>🟡 中风险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77440" y="3913632"/>
            <a:ext cx="5943600" cy="201168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377440" y="3913632"/>
            <a:ext cx="1828800" cy="2011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384048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2B54"/>
                </a:solidFill>
                <a:latin typeface="Microsoft YaHei"/>
              </a:defRPr>
            </a:pPr>
            <a:r>
              <a:t>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84048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38%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4348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F2B54"/>
                </a:solidFill>
                <a:latin typeface="Microsoft YaHei"/>
              </a:defRPr>
            </a:pPr>
            <a:r>
              <a:t>🔴 高风险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77440" y="4507992"/>
            <a:ext cx="5943600" cy="201168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377440" y="4507992"/>
            <a:ext cx="914400" cy="20116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44348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2B54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4348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28%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8920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B54"/>
                </a:solidFill>
                <a:latin typeface="Microsoft YaHei"/>
              </a:defRPr>
            </a:pPr>
            <a:r>
              <a:t>📋  不合规项分类分布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25780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消防通道与疏散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06040" y="5303520"/>
            <a:ext cx="3200400" cy="13716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606040" y="5303520"/>
            <a:ext cx="914400" cy="1371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0" y="525780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2B54"/>
                </a:solidFill>
                <a:latin typeface="Microsoft YaHei"/>
              </a:defRPr>
            </a:pPr>
            <a:r>
              <a:t>28项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53212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消防设施与器材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06040" y="5577840"/>
            <a:ext cx="3200400" cy="13716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553212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2B54"/>
                </a:solidFill>
                <a:latin typeface="Microsoft YaHei"/>
              </a:defRPr>
            </a:pPr>
            <a:r>
              <a:t>22项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8064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电气与火源管理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06040" y="5852160"/>
            <a:ext cx="3200400" cy="13716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0" y="580644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2B54"/>
                </a:solidFill>
                <a:latin typeface="Microsoft YaHei"/>
              </a:defRPr>
            </a:pPr>
            <a:r>
              <a:t>15项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60807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消防安全管理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06040" y="6126480"/>
            <a:ext cx="3200400" cy="13716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0" y="608076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2B54"/>
                </a:solidFill>
                <a:latin typeface="Microsoft YaHei"/>
              </a:defRPr>
            </a:pPr>
            <a:r>
              <a:t>13项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635508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建筑与场所属性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06040" y="6400800"/>
            <a:ext cx="3200400" cy="137160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0" y="6355080"/>
            <a:ext cx="548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2B54"/>
                </a:solidFill>
                <a:latin typeface="Microsoft YaHei"/>
              </a:defRPr>
            </a:pPr>
            <a:r>
              <a:t>9项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4892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B54"/>
                </a:solidFill>
                <a:latin typeface="Microsoft YaHei"/>
              </a:defRPr>
            </a:pPr>
            <a:r>
              <a:t>🔴  高频问题 TOP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525780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9480" y="525780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疏散通道宽度不达标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52578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12 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553212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69480" y="553212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灭火器数量/位置不符合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0" y="55321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9 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580644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9480" y="580644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安全出口被堵塞或锁闭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0" y="580644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8 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608076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69480" y="608076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应急照明缺失或损坏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0" y="608076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7 次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6355080"/>
            <a:ext cx="3657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69480" y="6355080"/>
            <a:ext cx="2926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电线乱拉乱接现象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41280" y="635508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B7280"/>
                </a:solidFill>
                <a:latin typeface="Microsoft YaHei"/>
              </a:defRPr>
            </a:pPr>
            <a:r>
              <a:t>6 次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2B54"/>
                </a:solidFill>
                <a:latin typeface="Microsoft YaHei"/>
              </a:defRPr>
            </a:pPr>
            <a:r>
              <a:t>📈  统计分析 — 月度趋势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合规率趋势 · 评估次数变化 · 数据驱动决策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B54"/>
                </a:solidFill>
                <a:latin typeface="Microsoft YaHei"/>
              </a:defRPr>
            </a:pPr>
            <a:r>
              <a:t>📊  月度合规率趋势图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698480" cy="4297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0" y="3291840"/>
            <a:ext cx="640080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97180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2B54"/>
                </a:solidFill>
                <a:latin typeface="Microsoft YaHei"/>
              </a:defRPr>
            </a:pPr>
            <a:r>
              <a:t>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8920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2026-01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5102352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12次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3360420"/>
            <a:ext cx="640080" cy="1485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304038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2B54"/>
                </a:solidFill>
                <a:latin typeface="Microsoft YaHei"/>
              </a:defRPr>
            </a:pPr>
            <a:r>
              <a:t>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8920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2026-02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5102352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15次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223260"/>
            <a:ext cx="640080" cy="16230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29032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2B54"/>
                </a:solidFill>
                <a:latin typeface="Microsoft YaHei"/>
              </a:defRPr>
            </a:pPr>
            <a:r>
              <a:t>71%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8920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2026-03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102352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18次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3246120"/>
            <a:ext cx="640080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292608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2B54"/>
                </a:solidFill>
                <a:latin typeface="Microsoft YaHei"/>
              </a:defRPr>
            </a:pPr>
            <a:r>
              <a:t>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8920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2026-04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5102352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14次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131820"/>
            <a:ext cx="640080" cy="17145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81178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2B54"/>
                </a:solidFill>
                <a:latin typeface="Microsoft YaHei"/>
              </a:defRPr>
            </a:pPr>
            <a:r>
              <a:t>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920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2026-05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102352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20次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3063240"/>
            <a:ext cx="640080" cy="1783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80" y="274320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2B54"/>
                </a:solidFill>
                <a:latin typeface="Microsoft YaHei"/>
              </a:defRPr>
            </a:pPr>
            <a:r>
              <a:t>78%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48920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2026-06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5102352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16次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2971801"/>
            <a:ext cx="640080" cy="18745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2651761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2B54"/>
                </a:solidFill>
                <a:latin typeface="Microsoft YaHei"/>
              </a:defRPr>
            </a:pPr>
            <a:r>
              <a:t>82%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892040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2026-07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102352"/>
            <a:ext cx="822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22次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309360"/>
            <a:ext cx="10698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💡 合规率呈上升趋势，7月达到 82%，反映出消防整改措施的有效落实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2B54"/>
                </a:solidFill>
                <a:latin typeface="Microsoft YaHei"/>
              </a:defRPr>
            </a:pPr>
            <a:r>
              <a:t>🏗️ 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前后端分离 · AI 驱动 · 容器化部署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0574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057400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B54"/>
                </a:solidFill>
                <a:latin typeface="Microsoft YaHei"/>
              </a:defRPr>
            </a:pPr>
            <a:r>
              <a:t>🖥️  前端层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17830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React 18 + Vite 5</a:t>
            </a:r>
            <a:br/>
            <a:r>
              <a:t>React Router 6 + CSS Modules</a:t>
            </a:r>
            <a:br/>
            <a:r>
              <a:t>react-dropzone 文件上传</a:t>
            </a:r>
            <a:br/>
            <a:r>
              <a:t>axios HTTP 客户端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554480"/>
            <a:ext cx="20574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1554480"/>
            <a:ext cx="20574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737360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B54"/>
                </a:solidFill>
                <a:latin typeface="Microsoft YaHei"/>
              </a:defRPr>
            </a:pPr>
            <a:r>
              <a:t>🔗  网关层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148840"/>
            <a:ext cx="17830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Nginx Alpine</a:t>
            </a:r>
            <a:br/>
            <a:r>
              <a:t>反向代理 / 静态资源</a:t>
            </a:r>
            <a:br/>
            <a:r>
              <a:t>API 路由转发</a:t>
            </a:r>
            <a:br/>
            <a:r>
              <a:t>请求限流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554480"/>
            <a:ext cx="20574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0" y="1554480"/>
            <a:ext cx="20574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737360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B54"/>
                </a:solidFill>
                <a:latin typeface="Microsoft YaHei"/>
              </a:defRPr>
            </a:pPr>
            <a:r>
              <a:t>⚙️  后端层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148840"/>
            <a:ext cx="17830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FastAPI (Python 3.10)</a:t>
            </a:r>
            <a:br/>
            <a:r>
              <a:t>Pydantic 数据校验</a:t>
            </a:r>
            <a:br/>
            <a:r>
              <a:t>PyJWT 身份认证</a:t>
            </a:r>
            <a:br/>
            <a:r>
              <a:t>python-docx 文档解析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554480"/>
            <a:ext cx="20574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1554480"/>
            <a:ext cx="20574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737360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B54"/>
                </a:solidFill>
                <a:latin typeface="Microsoft YaHei"/>
              </a:defRPr>
            </a:pPr>
            <a:r>
              <a:t>🧠  AI 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148840"/>
            <a:ext cx="17830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阿里云 DashScope API</a:t>
            </a:r>
            <a:br/>
            <a:r>
              <a:t>Qwen3.7-vl-plus 视觉模型</a:t>
            </a:r>
            <a:br/>
            <a:r>
              <a:t>Base64 图像编码传输</a:t>
            </a:r>
            <a:br/>
            <a:r>
              <a:t>JSON Schema 结构化输出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554480"/>
            <a:ext cx="20574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1554480"/>
            <a:ext cx="205740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1737360"/>
            <a:ext cx="1783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2B54"/>
                </a:solidFill>
                <a:latin typeface="Microsoft YaHei"/>
              </a:defRPr>
            </a:pPr>
            <a:r>
              <a:t>💾  数据层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148840"/>
            <a:ext cx="17830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JSON 文件持久化</a:t>
            </a:r>
            <a:br/>
            <a:r>
              <a:t>报告存储 (reports/)</a:t>
            </a:r>
            <a:br/>
            <a:r>
              <a:t>规则存储 (rules.json)</a:t>
            </a:r>
            <a:br/>
            <a:r>
              <a:t>法规文档库 (requirement/)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10698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F2B54"/>
                </a:solidFill>
                <a:latin typeface="Microsoft YaHei"/>
              </a:defRPr>
            </a:pPr>
            <a:r>
              <a:t>🔄  数据流转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120640"/>
            <a:ext cx="86868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166360"/>
            <a:ext cx="777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2B54"/>
                </a:solidFill>
                <a:latin typeface="Microsoft YaHei"/>
              </a:defRPr>
            </a:pPr>
            <a:r>
              <a:t>用户上传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532120"/>
            <a:ext cx="777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B7280"/>
                </a:solidFill>
                <a:latin typeface="Microsoft YaHei"/>
              </a:defRPr>
            </a:pPr>
            <a:r>
              <a:t>图片/PDF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257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5120640"/>
            <a:ext cx="86868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31720" y="5166360"/>
            <a:ext cx="777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2B54"/>
                </a:solidFill>
                <a:latin typeface="Microsoft YaHei"/>
              </a:defRPr>
            </a:pPr>
            <a:r>
              <a:t>FastAPI</a:t>
            </a:r>
            <a:br/>
            <a:r>
              <a:t>接收校验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5257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5120640"/>
            <a:ext cx="86868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60" y="5166360"/>
            <a:ext cx="777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2B54"/>
                </a:solidFill>
                <a:latin typeface="Microsoft YaHei"/>
              </a:defRPr>
            </a:pPr>
            <a:r>
              <a:t>Base64</a:t>
            </a:r>
            <a:br/>
            <a:r>
              <a:t>编码图像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5257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5120640"/>
            <a:ext cx="86868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5166360"/>
            <a:ext cx="777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2B54"/>
                </a:solidFill>
                <a:latin typeface="Microsoft YaHei"/>
              </a:defRPr>
            </a:pPr>
            <a:r>
              <a:t>Qwen VL</a:t>
            </a:r>
            <a:br/>
            <a:r>
              <a:t>视觉分析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5257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5120640"/>
            <a:ext cx="86868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5166360"/>
            <a:ext cx="777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2B54"/>
                </a:solidFill>
                <a:latin typeface="Microsoft YaHei"/>
              </a:defRPr>
            </a:pPr>
            <a:r>
              <a:t>JSON</a:t>
            </a:r>
            <a:br/>
            <a:r>
              <a:t>解析结果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5257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66960" y="5120640"/>
            <a:ext cx="86868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12680" y="5166360"/>
            <a:ext cx="777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2B54"/>
                </a:solidFill>
                <a:latin typeface="Microsoft YaHei"/>
              </a:defRPr>
            </a:pPr>
            <a:r>
              <a:t>生成报告</a:t>
            </a:r>
            <a:br/>
            <a:r>
              <a:t>持久化存储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27080" y="5257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887200" y="5120640"/>
            <a:ext cx="86868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932920" y="5166360"/>
            <a:ext cx="777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2B54"/>
                </a:solidFill>
                <a:latin typeface="Microsoft YaHei"/>
              </a:defRPr>
            </a:pPr>
            <a:r>
              <a:t>前端渲染</a:t>
            </a:r>
            <a:br/>
            <a:r>
              <a:t>展示报告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🐳  部署：Docker + Docker Compose（4 Workers × Uvicorn + Nginx 反向代理）  |  一键部署脚本 + 环境变量配置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F2B54"/>
                </a:solidFill>
                <a:latin typeface="Microsoft YaHei"/>
              </a:defRPr>
            </a:pPr>
            <a:r>
              <a:t>🌟  功能全景图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六大核心模块 · 覆盖消防安全评估全流程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691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737360"/>
            <a:ext cx="640080" cy="6400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登录认证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1508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JWT 令牌</a:t>
            </a:r>
            <a:br/>
            <a:r>
              <a:t>会话管理</a:t>
            </a:r>
            <a:br/>
            <a:r>
              <a:t>权限控制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59" y="1554480"/>
            <a:ext cx="1691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26079" y="1737360"/>
            <a:ext cx="640080" cy="6400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79" y="182880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251460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新建评估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599" y="2880360"/>
            <a:ext cx="1508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图片上传</a:t>
            </a:r>
            <a:br/>
            <a:r>
              <a:t>规则选择</a:t>
            </a:r>
            <a:br/>
            <a:r>
              <a:t>AI 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8" y="1554480"/>
            <a:ext cx="1691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0598" y="17373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598" y="182880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8" y="251460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评估报告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8" y="2880360"/>
            <a:ext cx="1508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统计卡片</a:t>
            </a:r>
            <a:br/>
            <a:r>
              <a:t>隐患明细</a:t>
            </a:r>
            <a:br/>
            <a:r>
              <a:t>法规引用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197" y="1554480"/>
            <a:ext cx="1691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17" y="173736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17" y="182880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37" y="251460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规则管理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37" y="2880360"/>
            <a:ext cx="1508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CRUD 操作</a:t>
            </a:r>
            <a:br/>
            <a:r>
              <a:t>分类筛选</a:t>
            </a:r>
            <a:br/>
            <a:r>
              <a:t>自定义规则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6" y="1554480"/>
            <a:ext cx="1691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49636" y="173736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36" y="182880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6" y="251460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历史记录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6" y="2880360"/>
            <a:ext cx="1508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分页浏览</a:t>
            </a:r>
            <a:br/>
            <a:r>
              <a:t>风险分级</a:t>
            </a:r>
            <a:br/>
            <a:r>
              <a:t>快速检索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35" y="1554480"/>
            <a:ext cx="1691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424155" y="1737360"/>
            <a:ext cx="640080" cy="6400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55" y="182880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75" y="2514600"/>
            <a:ext cx="1508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统计分析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75" y="2880360"/>
            <a:ext cx="15087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概览卡片</a:t>
            </a:r>
            <a:br/>
            <a:r>
              <a:t>风险分布</a:t>
            </a:r>
            <a:br/>
            <a:r>
              <a:t>趋势图表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206240"/>
            <a:ext cx="10698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F2B54"/>
                </a:solidFill>
                <a:latin typeface="Microsoft YaHei"/>
              </a:defRPr>
            </a:pPr>
            <a:r>
              <a:t>✨  系统亮点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617720"/>
            <a:ext cx="2606040" cy="1737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754880"/>
            <a:ext cx="2331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🤖 AI 驱动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166360"/>
            <a:ext cx="2331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千问视觉大模型自动分析</a:t>
            </a:r>
            <a:br/>
            <a:r>
              <a:t>消防现场图片，精准识别隐患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66160" y="4617720"/>
            <a:ext cx="2606040" cy="1737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03320" y="4754880"/>
            <a:ext cx="2331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📋 法规对标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5166360"/>
            <a:ext cx="2331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内置消防法规知识库</a:t>
            </a:r>
            <a:br/>
            <a:r>
              <a:t>自动匹配评估依据条款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617720"/>
            <a:ext cx="2606040" cy="1737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4754880"/>
            <a:ext cx="2331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🔧 灵活配置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166360"/>
            <a:ext cx="2331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支持自定义检查规则</a:t>
            </a:r>
            <a:br/>
            <a:r>
              <a:t>适应不同场所评估需求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5440" y="4617720"/>
            <a:ext cx="2606040" cy="1737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72600" y="4754880"/>
            <a:ext cx="2331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F2B54"/>
                </a:solidFill>
                <a:latin typeface="Microsoft YaHei"/>
              </a:defRPr>
            </a:pPr>
            <a:r>
              <a:t>📊 数据洞察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5166360"/>
            <a:ext cx="23317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多维度统计分析</a:t>
            </a:r>
            <a:br/>
            <a:r>
              <a:t>助力消防管理决策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5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93C5FD"/>
                </a:solidFill>
                <a:latin typeface="Microsoft YaHei"/>
              </a:defRPr>
            </a:pPr>
            <a:r>
              <a:t>消防安全智能评估系统  |  SafeEvaluate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800" b="0">
                <a:solidFill>
                  <a:srgbClr val="9CA3AF"/>
                </a:solidFill>
                <a:latin typeface="Microsoft YaHei"/>
              </a:defRPr>
            </a:pPr>
            <a:r>
              <a:t>智能评估 · 精准研判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9CA3AF"/>
                </a:solidFill>
                <a:latin typeface="Microsoft YaHei"/>
              </a:defRPr>
            </a:pPr>
            <a:r>
              <a:t>保障消防安全，AI 赋能执法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公安内部系统 · 仅限授权人员访问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